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Lst>
  <p:sldSz cx="18288000" cy="10287000"/>
  <p:notesSz cx="6858000" cy="9144000"/>
  <p:embeddedFontLst>
    <p:embeddedFont>
      <p:font typeface="Georgia Pro Light" charset="1" panose="02040302050405020303"/>
      <p:regular r:id="rId12"/>
    </p:embeddedFont>
    <p:embeddedFont>
      <p:font typeface="DM Sans" charset="1" panose="00000000000000000000"/>
      <p:regular r:id="rId13"/>
    </p:embeddedFont>
    <p:embeddedFont>
      <p:font typeface="DM Sans Bold" charset="1" panose="0000000000000000000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0" y="0"/>
            <a:ext cx="8991600" cy="10287000"/>
            <a:chOff x="0" y="0"/>
            <a:chExt cx="1035548" cy="1184737"/>
          </a:xfrm>
        </p:grpSpPr>
        <p:sp>
          <p:nvSpPr>
            <p:cNvPr name="Freeform 3" id="3"/>
            <p:cNvSpPr/>
            <p:nvPr/>
          </p:nvSpPr>
          <p:spPr>
            <a:xfrm flipH="false" flipV="false" rot="0">
              <a:off x="0" y="0"/>
              <a:ext cx="1035548" cy="1184737"/>
            </a:xfrm>
            <a:custGeom>
              <a:avLst/>
              <a:gdLst/>
              <a:ahLst/>
              <a:cxnLst/>
              <a:rect r="r" b="b" t="t" l="l"/>
              <a:pathLst>
                <a:path h="1184737" w="1035548">
                  <a:moveTo>
                    <a:pt x="0" y="0"/>
                  </a:moveTo>
                  <a:lnTo>
                    <a:pt x="1035548" y="0"/>
                  </a:lnTo>
                  <a:lnTo>
                    <a:pt x="1035548" y="1184737"/>
                  </a:lnTo>
                  <a:lnTo>
                    <a:pt x="0" y="1184737"/>
                  </a:lnTo>
                  <a:close/>
                </a:path>
              </a:pathLst>
            </a:custGeom>
            <a:blipFill>
              <a:blip r:embed="rId2"/>
              <a:stretch>
                <a:fillRect l="0" t="-378" r="0" b="-378"/>
              </a:stretch>
            </a:blipFill>
          </p:spPr>
        </p:sp>
      </p:grpSp>
      <p:grpSp>
        <p:nvGrpSpPr>
          <p:cNvPr name="Group 4" id="4"/>
          <p:cNvGrpSpPr/>
          <p:nvPr/>
        </p:nvGrpSpPr>
        <p:grpSpPr>
          <a:xfrm rot="0">
            <a:off x="10744200" y="666750"/>
            <a:ext cx="6877050" cy="560022"/>
            <a:chOff x="0" y="0"/>
            <a:chExt cx="9169400" cy="746696"/>
          </a:xfrm>
        </p:grpSpPr>
        <p:sp>
          <p:nvSpPr>
            <p:cNvPr name="Freeform 5" id="5"/>
            <p:cNvSpPr/>
            <p:nvPr/>
          </p:nvSpPr>
          <p:spPr>
            <a:xfrm flipH="true" flipV="false" rot="-5400000">
              <a:off x="36553" y="74861"/>
              <a:ext cx="555143" cy="628248"/>
            </a:xfrm>
            <a:custGeom>
              <a:avLst/>
              <a:gdLst/>
              <a:ahLst/>
              <a:cxnLst/>
              <a:rect r="r" b="b" t="t" l="l"/>
              <a:pathLst>
                <a:path h="628248" w="555143">
                  <a:moveTo>
                    <a:pt x="555143" y="0"/>
                  </a:moveTo>
                  <a:lnTo>
                    <a:pt x="0" y="0"/>
                  </a:lnTo>
                  <a:lnTo>
                    <a:pt x="0" y="628248"/>
                  </a:lnTo>
                  <a:lnTo>
                    <a:pt x="555143" y="628248"/>
                  </a:lnTo>
                  <a:lnTo>
                    <a:pt x="55514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795304" y="95250"/>
              <a:ext cx="8374096" cy="651446"/>
            </a:xfrm>
            <a:prstGeom prst="rect">
              <a:avLst/>
            </a:prstGeom>
          </p:spPr>
          <p:txBody>
            <a:bodyPr anchor="t" rtlCol="false" tIns="0" lIns="0" bIns="0" rIns="0">
              <a:spAutoFit/>
            </a:bodyPr>
            <a:lstStyle/>
            <a:p>
              <a:pPr algn="l" marL="0" indent="0" lvl="0">
                <a:lnSpc>
                  <a:spcPts val="3399"/>
                </a:lnSpc>
              </a:pPr>
              <a:r>
                <a:rPr lang="en-US" sz="3695" spc="-73">
                  <a:solidFill>
                    <a:srgbClr val="1D1C24"/>
                  </a:solidFill>
                  <a:latin typeface="Georgia Pro Light"/>
                  <a:ea typeface="Georgia Pro Light"/>
                  <a:cs typeface="Georgia Pro Light"/>
                  <a:sym typeface="Georgia Pro Light"/>
                </a:rPr>
                <a:t>Système de Gestion d'Assurances</a:t>
              </a:r>
            </a:p>
          </p:txBody>
        </p:sp>
      </p:grpSp>
      <p:grpSp>
        <p:nvGrpSpPr>
          <p:cNvPr name="Group 7" id="7"/>
          <p:cNvGrpSpPr/>
          <p:nvPr/>
        </p:nvGrpSpPr>
        <p:grpSpPr>
          <a:xfrm rot="0">
            <a:off x="10734675" y="1562100"/>
            <a:ext cx="6886575" cy="3675003"/>
            <a:chOff x="0" y="0"/>
            <a:chExt cx="9182100" cy="4900004"/>
          </a:xfrm>
        </p:grpSpPr>
        <p:sp>
          <p:nvSpPr>
            <p:cNvPr name="TextBox 8" id="8"/>
            <p:cNvSpPr txBox="true"/>
            <p:nvPr/>
          </p:nvSpPr>
          <p:spPr>
            <a:xfrm rot="0">
              <a:off x="0" y="200025"/>
              <a:ext cx="9182100" cy="3686167"/>
            </a:xfrm>
            <a:prstGeom prst="rect">
              <a:avLst/>
            </a:prstGeom>
          </p:spPr>
          <p:txBody>
            <a:bodyPr anchor="t" rtlCol="false" tIns="0" lIns="0" bIns="0" rIns="0">
              <a:spAutoFit/>
            </a:bodyPr>
            <a:lstStyle/>
            <a:p>
              <a:pPr algn="l" marL="0" indent="0" lvl="0">
                <a:lnSpc>
                  <a:spcPts val="10499"/>
                </a:lnSpc>
              </a:pPr>
              <a:r>
                <a:rPr lang="en-US" sz="10499">
                  <a:solidFill>
                    <a:srgbClr val="1D1C24"/>
                  </a:solidFill>
                  <a:latin typeface="Georgia Pro Light"/>
                  <a:ea typeface="Georgia Pro Light"/>
                  <a:cs typeface="Georgia Pro Light"/>
                  <a:sym typeface="Georgia Pro Light"/>
                </a:rPr>
                <a:t>Migration VSAM</a:t>
              </a:r>
            </a:p>
          </p:txBody>
        </p:sp>
        <p:sp>
          <p:nvSpPr>
            <p:cNvPr name="TextBox 9" id="9"/>
            <p:cNvSpPr txBox="true"/>
            <p:nvPr/>
          </p:nvSpPr>
          <p:spPr>
            <a:xfrm rot="0">
              <a:off x="0" y="4137115"/>
              <a:ext cx="9172670" cy="762889"/>
            </a:xfrm>
            <a:prstGeom prst="rect">
              <a:avLst/>
            </a:prstGeom>
          </p:spPr>
          <p:txBody>
            <a:bodyPr anchor="t" rtlCol="false" tIns="0" lIns="0" bIns="0" rIns="0">
              <a:spAutoFit/>
            </a:bodyPr>
            <a:lstStyle/>
            <a:p>
              <a:pPr algn="l" marL="0" indent="0" lvl="0">
                <a:lnSpc>
                  <a:spcPts val="4819"/>
                </a:lnSpc>
              </a:pPr>
              <a:r>
                <a:rPr lang="en-US" sz="3442">
                  <a:solidFill>
                    <a:srgbClr val="1D1C24"/>
                  </a:solidFill>
                  <a:latin typeface="DM Sans"/>
                  <a:ea typeface="DM Sans"/>
                  <a:cs typeface="DM Sans"/>
                  <a:sym typeface="DM Sans"/>
                </a:rPr>
                <a:t>vers DB2</a:t>
              </a:r>
            </a:p>
          </p:txBody>
        </p:sp>
      </p:grpSp>
      <p:grpSp>
        <p:nvGrpSpPr>
          <p:cNvPr name="Group 10" id="10"/>
          <p:cNvGrpSpPr/>
          <p:nvPr/>
        </p:nvGrpSpPr>
        <p:grpSpPr>
          <a:xfrm rot="0">
            <a:off x="10744200" y="8740903"/>
            <a:ext cx="5743575" cy="872711"/>
            <a:chOff x="0" y="0"/>
            <a:chExt cx="7658100" cy="1163615"/>
          </a:xfrm>
        </p:grpSpPr>
        <p:sp>
          <p:nvSpPr>
            <p:cNvPr name="TextBox 11" id="11"/>
            <p:cNvSpPr txBox="true"/>
            <p:nvPr/>
          </p:nvSpPr>
          <p:spPr>
            <a:xfrm rot="0">
              <a:off x="0" y="669797"/>
              <a:ext cx="7658100" cy="493818"/>
            </a:xfrm>
            <a:prstGeom prst="rect">
              <a:avLst/>
            </a:prstGeom>
          </p:spPr>
          <p:txBody>
            <a:bodyPr anchor="t" rtlCol="false" tIns="0" lIns="0" bIns="0" rIns="0">
              <a:spAutoFit/>
            </a:bodyPr>
            <a:lstStyle/>
            <a:p>
              <a:pPr algn="l" marL="0" indent="0" lvl="0">
                <a:lnSpc>
                  <a:spcPts val="3080"/>
                </a:lnSpc>
                <a:spcBef>
                  <a:spcPct val="0"/>
                </a:spcBef>
              </a:pPr>
              <a:r>
                <a:rPr lang="en-US" sz="2200">
                  <a:solidFill>
                    <a:srgbClr val="1D1C24"/>
                  </a:solidFill>
                  <a:latin typeface="DM Sans"/>
                  <a:ea typeface="DM Sans"/>
                  <a:cs typeface="DM Sans"/>
                  <a:sym typeface="DM Sans"/>
                </a:rPr>
                <a:t>Nicolas Moreau</a:t>
              </a:r>
            </a:p>
          </p:txBody>
        </p:sp>
        <p:sp>
          <p:nvSpPr>
            <p:cNvPr name="TextBox 12" id="12"/>
            <p:cNvSpPr txBox="true"/>
            <p:nvPr/>
          </p:nvSpPr>
          <p:spPr>
            <a:xfrm rot="0">
              <a:off x="0" y="-47625"/>
              <a:ext cx="7658100" cy="547624"/>
            </a:xfrm>
            <a:prstGeom prst="rect">
              <a:avLst/>
            </a:prstGeom>
          </p:spPr>
          <p:txBody>
            <a:bodyPr anchor="t" rtlCol="false" tIns="0" lIns="0" bIns="0" rIns="0">
              <a:spAutoFit/>
            </a:bodyPr>
            <a:lstStyle/>
            <a:p>
              <a:pPr algn="l" marL="0" indent="0" lvl="0">
                <a:lnSpc>
                  <a:spcPts val="3480"/>
                </a:lnSpc>
                <a:spcBef>
                  <a:spcPct val="0"/>
                </a:spcBef>
              </a:pPr>
              <a:r>
                <a:rPr lang="en-US" b="true" sz="2486">
                  <a:solidFill>
                    <a:srgbClr val="1D1C24"/>
                  </a:solidFill>
                  <a:latin typeface="DM Sans Bold"/>
                  <a:ea typeface="DM Sans Bold"/>
                  <a:cs typeface="DM Sans Bold"/>
                  <a:sym typeface="DM Sans Bold"/>
                </a:rPr>
                <a:t>PRÉSENTÉ PAR</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D1C24"/>
        </a:solidFill>
      </p:bgPr>
    </p:bg>
    <p:spTree>
      <p:nvGrpSpPr>
        <p:cNvPr id="1" name=""/>
        <p:cNvGrpSpPr/>
        <p:nvPr/>
      </p:nvGrpSpPr>
      <p:grpSpPr>
        <a:xfrm>
          <a:off x="0" y="0"/>
          <a:ext cx="0" cy="0"/>
          <a:chOff x="0" y="0"/>
          <a:chExt cx="0" cy="0"/>
        </a:xfrm>
      </p:grpSpPr>
      <p:grpSp>
        <p:nvGrpSpPr>
          <p:cNvPr name="Group 2" id="2"/>
          <p:cNvGrpSpPr/>
          <p:nvPr/>
        </p:nvGrpSpPr>
        <p:grpSpPr>
          <a:xfrm rot="0">
            <a:off x="10734675" y="0"/>
            <a:ext cx="7553325" cy="10287000"/>
            <a:chOff x="0" y="0"/>
            <a:chExt cx="1170208" cy="1593725"/>
          </a:xfrm>
        </p:grpSpPr>
        <p:sp>
          <p:nvSpPr>
            <p:cNvPr name="Freeform 3" id="3"/>
            <p:cNvSpPr/>
            <p:nvPr/>
          </p:nvSpPr>
          <p:spPr>
            <a:xfrm flipH="false" flipV="false" rot="0">
              <a:off x="0" y="0"/>
              <a:ext cx="1170208" cy="1593725"/>
            </a:xfrm>
            <a:custGeom>
              <a:avLst/>
              <a:gdLst/>
              <a:ahLst/>
              <a:cxnLst/>
              <a:rect r="r" b="b" t="t" l="l"/>
              <a:pathLst>
                <a:path h="1593725" w="1170208">
                  <a:moveTo>
                    <a:pt x="0" y="0"/>
                  </a:moveTo>
                  <a:lnTo>
                    <a:pt x="1170208" y="0"/>
                  </a:lnTo>
                  <a:lnTo>
                    <a:pt x="1170208" y="1593725"/>
                  </a:lnTo>
                  <a:lnTo>
                    <a:pt x="0" y="1593725"/>
                  </a:lnTo>
                  <a:close/>
                </a:path>
              </a:pathLst>
            </a:custGeom>
            <a:blipFill>
              <a:blip r:embed="rId2"/>
              <a:stretch>
                <a:fillRect l="0" t="-205" r="0" b="-205"/>
              </a:stretch>
            </a:blipFill>
          </p:spPr>
        </p:sp>
      </p:grpSp>
      <p:grpSp>
        <p:nvGrpSpPr>
          <p:cNvPr name="Group 4" id="4"/>
          <p:cNvGrpSpPr/>
          <p:nvPr/>
        </p:nvGrpSpPr>
        <p:grpSpPr>
          <a:xfrm rot="0">
            <a:off x="666750" y="666750"/>
            <a:ext cx="8324850" cy="2632656"/>
            <a:chOff x="0" y="0"/>
            <a:chExt cx="11099800" cy="3510208"/>
          </a:xfrm>
        </p:grpSpPr>
        <p:sp>
          <p:nvSpPr>
            <p:cNvPr name="TextBox 5" id="5"/>
            <p:cNvSpPr txBox="true"/>
            <p:nvPr/>
          </p:nvSpPr>
          <p:spPr>
            <a:xfrm rot="0">
              <a:off x="0" y="66675"/>
              <a:ext cx="11099800" cy="1554696"/>
            </a:xfrm>
            <a:prstGeom prst="rect">
              <a:avLst/>
            </a:prstGeom>
          </p:spPr>
          <p:txBody>
            <a:bodyPr anchor="t" rtlCol="false" tIns="0" lIns="0" bIns="0" rIns="0">
              <a:spAutoFit/>
            </a:bodyPr>
            <a:lstStyle/>
            <a:p>
              <a:pPr algn="l" marL="0" indent="0" lvl="0">
                <a:lnSpc>
                  <a:spcPts val="8800"/>
                </a:lnSpc>
              </a:pPr>
              <a:r>
                <a:rPr lang="en-US" sz="8000">
                  <a:solidFill>
                    <a:srgbClr val="F1F1F1"/>
                  </a:solidFill>
                  <a:latin typeface="Georgia Pro Light"/>
                  <a:ea typeface="Georgia Pro Light"/>
                  <a:cs typeface="Georgia Pro Light"/>
                  <a:sym typeface="Georgia Pro Light"/>
                </a:rPr>
                <a:t>Contexte du Projet</a:t>
              </a:r>
            </a:p>
          </p:txBody>
        </p:sp>
        <p:sp>
          <p:nvSpPr>
            <p:cNvPr name="TextBox 6" id="6"/>
            <p:cNvSpPr txBox="true"/>
            <p:nvPr/>
          </p:nvSpPr>
          <p:spPr>
            <a:xfrm rot="0">
              <a:off x="0" y="2047803"/>
              <a:ext cx="11099800" cy="1462405"/>
            </a:xfrm>
            <a:prstGeom prst="rect">
              <a:avLst/>
            </a:prstGeom>
          </p:spPr>
          <p:txBody>
            <a:bodyPr anchor="t" rtlCol="false" tIns="0" lIns="0" bIns="0" rIns="0">
              <a:spAutoFit/>
            </a:bodyPr>
            <a:lstStyle/>
            <a:p>
              <a:pPr algn="l" marL="0" indent="0" lvl="0">
                <a:lnSpc>
                  <a:spcPts val="2940"/>
                </a:lnSpc>
              </a:pPr>
              <a:r>
                <a:rPr lang="en-US" sz="2100">
                  <a:solidFill>
                    <a:srgbClr val="F1F1F1"/>
                  </a:solidFill>
                  <a:latin typeface="DM Sans"/>
                  <a:ea typeface="DM Sans"/>
                  <a:cs typeface="DM Sans"/>
                  <a:sym typeface="DM Sans"/>
                </a:rPr>
                <a:t>Ce projet académique vise à </a:t>
              </a:r>
              <a:r>
                <a:rPr lang="en-US" b="true" sz="2100">
                  <a:solidFill>
                    <a:srgbClr val="F1F1F1"/>
                  </a:solidFill>
                  <a:latin typeface="DM Sans Bold"/>
                  <a:ea typeface="DM Sans Bold"/>
                  <a:cs typeface="DM Sans Bold"/>
                  <a:sym typeface="DM Sans Bold"/>
                </a:rPr>
                <a:t>moderniser un fichier d'assurés</a:t>
              </a:r>
              <a:r>
                <a:rPr lang="en-US" sz="2100">
                  <a:solidFill>
                    <a:srgbClr val="F1F1F1"/>
                  </a:solidFill>
                  <a:latin typeface="DM Sans"/>
                  <a:ea typeface="DM Sans"/>
                  <a:cs typeface="DM Sans"/>
                  <a:sym typeface="DM Sans"/>
                </a:rPr>
                <a:t> sur mainframe z/OS en facilitant le traitement des mouvements batch pour garantir une mise à jour efficace et fiable.</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D1C24"/>
        </a:solidFill>
      </p:bgPr>
    </p:bg>
    <p:spTree>
      <p:nvGrpSpPr>
        <p:cNvPr id="1" name=""/>
        <p:cNvGrpSpPr/>
        <p:nvPr/>
      </p:nvGrpSpPr>
      <p:grpSpPr>
        <a:xfrm>
          <a:off x="0" y="0"/>
          <a:ext cx="0" cy="0"/>
          <a:chOff x="0" y="0"/>
          <a:chExt cx="0" cy="0"/>
        </a:xfrm>
      </p:grpSpPr>
      <p:grpSp>
        <p:nvGrpSpPr>
          <p:cNvPr name="Group 2" id="2"/>
          <p:cNvGrpSpPr/>
          <p:nvPr/>
        </p:nvGrpSpPr>
        <p:grpSpPr>
          <a:xfrm rot="0">
            <a:off x="10734675" y="0"/>
            <a:ext cx="7553325" cy="10287000"/>
            <a:chOff x="0" y="0"/>
            <a:chExt cx="1170208" cy="1593725"/>
          </a:xfrm>
        </p:grpSpPr>
        <p:sp>
          <p:nvSpPr>
            <p:cNvPr name="Freeform 3" id="3"/>
            <p:cNvSpPr/>
            <p:nvPr/>
          </p:nvSpPr>
          <p:spPr>
            <a:xfrm flipH="false" flipV="false" rot="0">
              <a:off x="0" y="0"/>
              <a:ext cx="1170208" cy="1593725"/>
            </a:xfrm>
            <a:custGeom>
              <a:avLst/>
              <a:gdLst/>
              <a:ahLst/>
              <a:cxnLst/>
              <a:rect r="r" b="b" t="t" l="l"/>
              <a:pathLst>
                <a:path h="1593725" w="1170208">
                  <a:moveTo>
                    <a:pt x="0" y="0"/>
                  </a:moveTo>
                  <a:lnTo>
                    <a:pt x="1170208" y="0"/>
                  </a:lnTo>
                  <a:lnTo>
                    <a:pt x="1170208" y="1593725"/>
                  </a:lnTo>
                  <a:lnTo>
                    <a:pt x="0" y="1593725"/>
                  </a:lnTo>
                  <a:close/>
                </a:path>
              </a:pathLst>
            </a:custGeom>
            <a:blipFill>
              <a:blip r:embed="rId2"/>
              <a:stretch>
                <a:fillRect l="0" t="-205" r="0" b="-205"/>
              </a:stretch>
            </a:blipFill>
          </p:spPr>
        </p:sp>
      </p:grpSp>
      <p:grpSp>
        <p:nvGrpSpPr>
          <p:cNvPr name="Group 4" id="4"/>
          <p:cNvGrpSpPr/>
          <p:nvPr/>
        </p:nvGrpSpPr>
        <p:grpSpPr>
          <a:xfrm rot="0">
            <a:off x="666750" y="666750"/>
            <a:ext cx="8324850" cy="2632656"/>
            <a:chOff x="0" y="0"/>
            <a:chExt cx="11099800" cy="3510208"/>
          </a:xfrm>
        </p:grpSpPr>
        <p:sp>
          <p:nvSpPr>
            <p:cNvPr name="TextBox 5" id="5"/>
            <p:cNvSpPr txBox="true"/>
            <p:nvPr/>
          </p:nvSpPr>
          <p:spPr>
            <a:xfrm rot="0">
              <a:off x="0" y="66675"/>
              <a:ext cx="11099800" cy="1554696"/>
            </a:xfrm>
            <a:prstGeom prst="rect">
              <a:avLst/>
            </a:prstGeom>
          </p:spPr>
          <p:txBody>
            <a:bodyPr anchor="t" rtlCol="false" tIns="0" lIns="0" bIns="0" rIns="0">
              <a:spAutoFit/>
            </a:bodyPr>
            <a:lstStyle/>
            <a:p>
              <a:pPr algn="l" marL="0" indent="0" lvl="0">
                <a:lnSpc>
                  <a:spcPts val="8800"/>
                </a:lnSpc>
              </a:pPr>
              <a:r>
                <a:rPr lang="en-US" sz="8000">
                  <a:solidFill>
                    <a:srgbClr val="F1F1F1"/>
                  </a:solidFill>
                  <a:latin typeface="Georgia Pro Light"/>
                  <a:ea typeface="Georgia Pro Light"/>
                  <a:cs typeface="Georgia Pro Light"/>
                  <a:sym typeface="Georgia Pro Light"/>
                </a:rPr>
                <a:t>Architecture V1</a:t>
              </a:r>
            </a:p>
          </p:txBody>
        </p:sp>
        <p:sp>
          <p:nvSpPr>
            <p:cNvPr name="TextBox 6" id="6"/>
            <p:cNvSpPr txBox="true"/>
            <p:nvPr/>
          </p:nvSpPr>
          <p:spPr>
            <a:xfrm rot="0">
              <a:off x="0" y="2047803"/>
              <a:ext cx="11099800" cy="1462405"/>
            </a:xfrm>
            <a:prstGeom prst="rect">
              <a:avLst/>
            </a:prstGeom>
          </p:spPr>
          <p:txBody>
            <a:bodyPr anchor="t" rtlCol="false" tIns="0" lIns="0" bIns="0" rIns="0">
              <a:spAutoFit/>
            </a:bodyPr>
            <a:lstStyle/>
            <a:p>
              <a:pPr algn="l" marL="0" indent="0" lvl="0">
                <a:lnSpc>
                  <a:spcPts val="2940"/>
                </a:lnSpc>
              </a:pPr>
              <a:r>
                <a:rPr lang="en-US" sz="2100">
                  <a:solidFill>
                    <a:srgbClr val="F1F1F1"/>
                  </a:solidFill>
                  <a:latin typeface="DM Sans"/>
                  <a:ea typeface="DM Sans"/>
                  <a:cs typeface="DM Sans"/>
                  <a:sym typeface="DM Sans"/>
                </a:rPr>
                <a:t>Cette section présente l'</a:t>
              </a:r>
              <a:r>
                <a:rPr lang="en-US" b="true" sz="2100">
                  <a:solidFill>
                    <a:srgbClr val="F1F1F1"/>
                  </a:solidFill>
                  <a:latin typeface="DM Sans Bold"/>
                  <a:ea typeface="DM Sans Bold"/>
                  <a:cs typeface="DM Sans Bold"/>
                  <a:sym typeface="DM Sans Bold"/>
                </a:rPr>
                <a:t>architecture V1</a:t>
              </a:r>
              <a:r>
                <a:rPr lang="en-US" sz="2100">
                  <a:solidFill>
                    <a:srgbClr val="F1F1F1"/>
                  </a:solidFill>
                  <a:latin typeface="DM Sans"/>
                  <a:ea typeface="DM Sans"/>
                  <a:cs typeface="DM Sans"/>
                  <a:sym typeface="DM Sans"/>
                </a:rPr>
                <a:t>, qui utilise uniquement VSAM pour la gestion des fichiers. Nous allons explorer l'interface de communication et sa structure de données essentielle.</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D1C24"/>
        </a:solidFill>
      </p:bgPr>
    </p:bg>
    <p:spTree>
      <p:nvGrpSpPr>
        <p:cNvPr id="1" name=""/>
        <p:cNvGrpSpPr/>
        <p:nvPr/>
      </p:nvGrpSpPr>
      <p:grpSpPr>
        <a:xfrm>
          <a:off x="0" y="0"/>
          <a:ext cx="0" cy="0"/>
          <a:chOff x="0" y="0"/>
          <a:chExt cx="0" cy="0"/>
        </a:xfrm>
      </p:grpSpPr>
      <p:grpSp>
        <p:nvGrpSpPr>
          <p:cNvPr name="Group 2" id="2"/>
          <p:cNvGrpSpPr/>
          <p:nvPr/>
        </p:nvGrpSpPr>
        <p:grpSpPr>
          <a:xfrm rot="0">
            <a:off x="10734675" y="0"/>
            <a:ext cx="7553325" cy="10287000"/>
            <a:chOff x="0" y="0"/>
            <a:chExt cx="1170208" cy="1593725"/>
          </a:xfrm>
        </p:grpSpPr>
        <p:sp>
          <p:nvSpPr>
            <p:cNvPr name="Freeform 3" id="3"/>
            <p:cNvSpPr/>
            <p:nvPr/>
          </p:nvSpPr>
          <p:spPr>
            <a:xfrm flipH="false" flipV="false" rot="0">
              <a:off x="0" y="0"/>
              <a:ext cx="1170208" cy="1593725"/>
            </a:xfrm>
            <a:custGeom>
              <a:avLst/>
              <a:gdLst/>
              <a:ahLst/>
              <a:cxnLst/>
              <a:rect r="r" b="b" t="t" l="l"/>
              <a:pathLst>
                <a:path h="1593725" w="1170208">
                  <a:moveTo>
                    <a:pt x="0" y="0"/>
                  </a:moveTo>
                  <a:lnTo>
                    <a:pt x="1170208" y="0"/>
                  </a:lnTo>
                  <a:lnTo>
                    <a:pt x="1170208" y="1593725"/>
                  </a:lnTo>
                  <a:lnTo>
                    <a:pt x="0" y="1593725"/>
                  </a:lnTo>
                  <a:close/>
                </a:path>
              </a:pathLst>
            </a:custGeom>
            <a:blipFill>
              <a:blip r:embed="rId2"/>
              <a:stretch>
                <a:fillRect l="0" t="-205" r="0" b="-205"/>
              </a:stretch>
            </a:blipFill>
          </p:spPr>
        </p:sp>
      </p:grpSp>
      <p:grpSp>
        <p:nvGrpSpPr>
          <p:cNvPr name="Group 4" id="4"/>
          <p:cNvGrpSpPr/>
          <p:nvPr/>
        </p:nvGrpSpPr>
        <p:grpSpPr>
          <a:xfrm rot="0">
            <a:off x="666750" y="666750"/>
            <a:ext cx="8324850" cy="2632656"/>
            <a:chOff x="0" y="0"/>
            <a:chExt cx="11099800" cy="3510208"/>
          </a:xfrm>
        </p:grpSpPr>
        <p:sp>
          <p:nvSpPr>
            <p:cNvPr name="TextBox 5" id="5"/>
            <p:cNvSpPr txBox="true"/>
            <p:nvPr/>
          </p:nvSpPr>
          <p:spPr>
            <a:xfrm rot="0">
              <a:off x="0" y="66675"/>
              <a:ext cx="11099800" cy="1554696"/>
            </a:xfrm>
            <a:prstGeom prst="rect">
              <a:avLst/>
            </a:prstGeom>
          </p:spPr>
          <p:txBody>
            <a:bodyPr anchor="t" rtlCol="false" tIns="0" lIns="0" bIns="0" rIns="0">
              <a:spAutoFit/>
            </a:bodyPr>
            <a:lstStyle/>
            <a:p>
              <a:pPr algn="l" marL="0" indent="0" lvl="0">
                <a:lnSpc>
                  <a:spcPts val="8800"/>
                </a:lnSpc>
              </a:pPr>
              <a:r>
                <a:rPr lang="en-US" sz="8000">
                  <a:solidFill>
                    <a:srgbClr val="F1F1F1"/>
                  </a:solidFill>
                  <a:latin typeface="Georgia Pro Light"/>
                  <a:ea typeface="Georgia Pro Light"/>
                  <a:cs typeface="Georgia Pro Light"/>
                  <a:sym typeface="Georgia Pro Light"/>
                </a:rPr>
                <a:t>Évolution V2</a:t>
              </a:r>
            </a:p>
          </p:txBody>
        </p:sp>
        <p:sp>
          <p:nvSpPr>
            <p:cNvPr name="TextBox 6" id="6"/>
            <p:cNvSpPr txBox="true"/>
            <p:nvPr/>
          </p:nvSpPr>
          <p:spPr>
            <a:xfrm rot="0">
              <a:off x="0" y="2047803"/>
              <a:ext cx="11099800" cy="1462405"/>
            </a:xfrm>
            <a:prstGeom prst="rect">
              <a:avLst/>
            </a:prstGeom>
          </p:spPr>
          <p:txBody>
            <a:bodyPr anchor="t" rtlCol="false" tIns="0" lIns="0" bIns="0" rIns="0">
              <a:spAutoFit/>
            </a:bodyPr>
            <a:lstStyle/>
            <a:p>
              <a:pPr algn="l" marL="0" indent="0" lvl="0">
                <a:lnSpc>
                  <a:spcPts val="2940"/>
                </a:lnSpc>
              </a:pPr>
              <a:r>
                <a:rPr lang="en-US" sz="2100">
                  <a:solidFill>
                    <a:srgbClr val="F1F1F1"/>
                  </a:solidFill>
                  <a:latin typeface="DM Sans"/>
                  <a:ea typeface="DM Sans"/>
                  <a:cs typeface="DM Sans"/>
                  <a:sym typeface="DM Sans"/>
                </a:rPr>
                <a:t>L'</a:t>
              </a:r>
              <a:r>
                <a:rPr lang="en-US" b="true" sz="2100">
                  <a:solidFill>
                    <a:srgbClr val="F1F1F1"/>
                  </a:solidFill>
                  <a:latin typeface="DM Sans Bold"/>
                  <a:ea typeface="DM Sans Bold"/>
                  <a:cs typeface="DM Sans Bold"/>
                  <a:sym typeface="DM Sans Bold"/>
                </a:rPr>
                <a:t>Accesseur Dynamique</a:t>
              </a:r>
              <a:r>
                <a:rPr lang="en-US" sz="2100">
                  <a:solidFill>
                    <a:srgbClr val="F1F1F1"/>
                  </a:solidFill>
                  <a:latin typeface="DM Sans"/>
                  <a:ea typeface="DM Sans"/>
                  <a:cs typeface="DM Sans"/>
                  <a:sym typeface="DM Sans"/>
                </a:rPr>
                <a:t> introduit une flexibilité innovante dans le traitement des fichiers, permettant un choix à l'exécution via un simple paramètre JCL pour accéder aux données.</a:t>
              </a:r>
            </a:p>
          </p:txBody>
        </p:sp>
      </p:grpSp>
    </p:spTree>
  </p:cSld>
  <p:clrMapOvr>
    <a:masterClrMapping/>
  </p:clrMapOvr>
</p:sld>
</file>

<file path=ppt/slides/slide5.xml><?xml version="1.0" encoding="utf-8"?>
<p:sld xmlns:p="http://schemas.openxmlformats.org/presentationml/2006/main" xmlns:a="http://schemas.openxmlformats.org/drawingml/2006/main">
  <p:cSld>
    <p:bg>
      <p:bgPr>
        <a:solidFill>
          <a:srgbClr val="1D1C24"/>
        </a:solidFill>
      </p:bgPr>
    </p:bg>
    <p:spTree>
      <p:nvGrpSpPr>
        <p:cNvPr id="1" name=""/>
        <p:cNvGrpSpPr/>
        <p:nvPr/>
      </p:nvGrpSpPr>
      <p:grpSpPr>
        <a:xfrm>
          <a:off x="0" y="0"/>
          <a:ext cx="0" cy="0"/>
          <a:chOff x="0" y="0"/>
          <a:chExt cx="0" cy="0"/>
        </a:xfrm>
      </p:grpSpPr>
      <p:sp>
        <p:nvSpPr>
          <p:cNvPr name="TextBox 2" id="2"/>
          <p:cNvSpPr txBox="true"/>
          <p:nvPr/>
        </p:nvSpPr>
        <p:spPr>
          <a:xfrm rot="0">
            <a:off x="666750" y="733425"/>
            <a:ext cx="5753100" cy="2263778"/>
          </a:xfrm>
          <a:prstGeom prst="rect">
            <a:avLst/>
          </a:prstGeom>
        </p:spPr>
        <p:txBody>
          <a:bodyPr anchor="t" rtlCol="false" tIns="0" lIns="0" bIns="0" rIns="0">
            <a:spAutoFit/>
          </a:bodyPr>
          <a:lstStyle/>
          <a:p>
            <a:pPr algn="l" marL="0" indent="0" lvl="0">
              <a:lnSpc>
                <a:spcPts val="8800"/>
              </a:lnSpc>
              <a:spcBef>
                <a:spcPct val="0"/>
              </a:spcBef>
            </a:pPr>
            <a:r>
              <a:rPr lang="en-US" sz="8000">
                <a:solidFill>
                  <a:srgbClr val="F1F1F1"/>
                </a:solidFill>
                <a:latin typeface="Georgia Pro Light"/>
                <a:ea typeface="Georgia Pro Light"/>
                <a:cs typeface="Georgia Pro Light"/>
                <a:sym typeface="Georgia Pro Light"/>
              </a:rPr>
              <a:t>Composants Techniques</a:t>
            </a:r>
          </a:p>
        </p:txBody>
      </p:sp>
      <p:sp>
        <p:nvSpPr>
          <p:cNvPr name="TextBox 3" id="3"/>
          <p:cNvSpPr txBox="true"/>
          <p:nvPr/>
        </p:nvSpPr>
        <p:spPr>
          <a:xfrm rot="0">
            <a:off x="9296400" y="2409825"/>
            <a:ext cx="7191375" cy="1442752"/>
          </a:xfrm>
          <a:prstGeom prst="rect">
            <a:avLst/>
          </a:prstGeom>
        </p:spPr>
        <p:txBody>
          <a:bodyPr anchor="t" rtlCol="false" tIns="0" lIns="0" bIns="0" rIns="0">
            <a:spAutoFit/>
          </a:bodyPr>
          <a:lstStyle/>
          <a:p>
            <a:pPr algn="l" marL="0" indent="0" lvl="0">
              <a:lnSpc>
                <a:spcPts val="2903"/>
              </a:lnSpc>
            </a:pPr>
            <a:r>
              <a:rPr lang="en-US" sz="2073">
                <a:solidFill>
                  <a:srgbClr val="F1F1F1"/>
                </a:solidFill>
                <a:latin typeface="DM Sans"/>
                <a:ea typeface="DM Sans"/>
                <a:cs typeface="DM Sans"/>
                <a:sym typeface="DM Sans"/>
              </a:rPr>
              <a:t>Les programmes COBOL jouent un rôle clé dans le traitement des mouvements, chaque module étant conçu pour gérer des fonctions spécifiques, telles que la création, la modification et la suppression de données.</a:t>
            </a:r>
          </a:p>
        </p:txBody>
      </p:sp>
      <p:sp>
        <p:nvSpPr>
          <p:cNvPr name="TextBox 4" id="4"/>
          <p:cNvSpPr txBox="true"/>
          <p:nvPr/>
        </p:nvSpPr>
        <p:spPr>
          <a:xfrm rot="0">
            <a:off x="9296400" y="1514475"/>
            <a:ext cx="7191375" cy="438785"/>
          </a:xfrm>
          <a:prstGeom prst="rect">
            <a:avLst/>
          </a:prstGeom>
        </p:spPr>
        <p:txBody>
          <a:bodyPr anchor="t" rtlCol="false" tIns="0" lIns="0" bIns="0" rIns="0">
            <a:spAutoFit/>
          </a:bodyPr>
          <a:lstStyle/>
          <a:p>
            <a:pPr algn="l" marL="0" indent="0" lvl="0">
              <a:lnSpc>
                <a:spcPts val="3640"/>
              </a:lnSpc>
            </a:pPr>
            <a:r>
              <a:rPr lang="en-US" b="true" sz="2600">
                <a:solidFill>
                  <a:srgbClr val="F1F1F1"/>
                </a:solidFill>
                <a:latin typeface="DM Sans Bold"/>
                <a:ea typeface="DM Sans Bold"/>
                <a:cs typeface="DM Sans Bold"/>
                <a:sym typeface="DM Sans Bold"/>
              </a:rPr>
              <a:t>PROGRAMMES COBOL</a:t>
            </a:r>
          </a:p>
        </p:txBody>
      </p:sp>
      <p:sp>
        <p:nvSpPr>
          <p:cNvPr name="TextBox 5" id="5"/>
          <p:cNvSpPr txBox="true"/>
          <p:nvPr/>
        </p:nvSpPr>
        <p:spPr>
          <a:xfrm rot="0">
            <a:off x="9296400" y="5095875"/>
            <a:ext cx="7191375" cy="1442752"/>
          </a:xfrm>
          <a:prstGeom prst="rect">
            <a:avLst/>
          </a:prstGeom>
        </p:spPr>
        <p:txBody>
          <a:bodyPr anchor="t" rtlCol="false" tIns="0" lIns="0" bIns="0" rIns="0">
            <a:spAutoFit/>
          </a:bodyPr>
          <a:lstStyle/>
          <a:p>
            <a:pPr algn="l" marL="0" indent="0" lvl="0">
              <a:lnSpc>
                <a:spcPts val="2903"/>
              </a:lnSpc>
            </a:pPr>
            <a:r>
              <a:rPr lang="en-US" sz="2073">
                <a:solidFill>
                  <a:srgbClr val="F1F1F1"/>
                </a:solidFill>
                <a:latin typeface="DM Sans"/>
                <a:ea typeface="DM Sans"/>
                <a:cs typeface="DM Sans"/>
                <a:sym typeface="DM Sans"/>
              </a:rPr>
              <a:t>Les structures de données incluent des fichiers KSDS indexés et des tables DB2, assurant une gestion efficace des informations d'assurés, tout en facilitant l'intégration et l'accès aux données.</a:t>
            </a:r>
          </a:p>
        </p:txBody>
      </p:sp>
      <p:sp>
        <p:nvSpPr>
          <p:cNvPr name="TextBox 6" id="6"/>
          <p:cNvSpPr txBox="true"/>
          <p:nvPr/>
        </p:nvSpPr>
        <p:spPr>
          <a:xfrm rot="0">
            <a:off x="9296400" y="4200525"/>
            <a:ext cx="7191375" cy="438785"/>
          </a:xfrm>
          <a:prstGeom prst="rect">
            <a:avLst/>
          </a:prstGeom>
        </p:spPr>
        <p:txBody>
          <a:bodyPr anchor="t" rtlCol="false" tIns="0" lIns="0" bIns="0" rIns="0">
            <a:spAutoFit/>
          </a:bodyPr>
          <a:lstStyle/>
          <a:p>
            <a:pPr algn="l" marL="0" indent="0" lvl="0">
              <a:lnSpc>
                <a:spcPts val="3640"/>
              </a:lnSpc>
            </a:pPr>
            <a:r>
              <a:rPr lang="en-US" b="true" sz="2600">
                <a:solidFill>
                  <a:srgbClr val="F1F1F1"/>
                </a:solidFill>
                <a:latin typeface="DM Sans Bold"/>
                <a:ea typeface="DM Sans Bold"/>
                <a:cs typeface="DM Sans Bold"/>
                <a:sym typeface="DM Sans Bold"/>
              </a:rPr>
              <a:t>FICHIERS ET STRUCTURES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D1C24"/>
        </a:solidFill>
      </p:bgPr>
    </p:bg>
    <p:spTree>
      <p:nvGrpSpPr>
        <p:cNvPr id="1" name=""/>
        <p:cNvGrpSpPr/>
        <p:nvPr/>
      </p:nvGrpSpPr>
      <p:grpSpPr>
        <a:xfrm>
          <a:off x="0" y="0"/>
          <a:ext cx="0" cy="0"/>
          <a:chOff x="0" y="0"/>
          <a:chExt cx="0" cy="0"/>
        </a:xfrm>
      </p:grpSpPr>
      <p:grpSp>
        <p:nvGrpSpPr>
          <p:cNvPr name="Group 2" id="2"/>
          <p:cNvGrpSpPr/>
          <p:nvPr/>
        </p:nvGrpSpPr>
        <p:grpSpPr>
          <a:xfrm rot="0">
            <a:off x="10734675" y="0"/>
            <a:ext cx="7553325" cy="10287000"/>
            <a:chOff x="0" y="0"/>
            <a:chExt cx="1170208" cy="1593725"/>
          </a:xfrm>
        </p:grpSpPr>
        <p:sp>
          <p:nvSpPr>
            <p:cNvPr name="Freeform 3" id="3"/>
            <p:cNvSpPr/>
            <p:nvPr/>
          </p:nvSpPr>
          <p:spPr>
            <a:xfrm flipH="false" flipV="false" rot="0">
              <a:off x="0" y="0"/>
              <a:ext cx="1170208" cy="1593725"/>
            </a:xfrm>
            <a:custGeom>
              <a:avLst/>
              <a:gdLst/>
              <a:ahLst/>
              <a:cxnLst/>
              <a:rect r="r" b="b" t="t" l="l"/>
              <a:pathLst>
                <a:path h="1593725" w="1170208">
                  <a:moveTo>
                    <a:pt x="0" y="0"/>
                  </a:moveTo>
                  <a:lnTo>
                    <a:pt x="1170208" y="0"/>
                  </a:lnTo>
                  <a:lnTo>
                    <a:pt x="1170208" y="1593725"/>
                  </a:lnTo>
                  <a:lnTo>
                    <a:pt x="0" y="1593725"/>
                  </a:lnTo>
                  <a:close/>
                </a:path>
              </a:pathLst>
            </a:custGeom>
            <a:blipFill>
              <a:blip r:embed="rId2"/>
              <a:stretch>
                <a:fillRect l="0" t="-205" r="0" b="-205"/>
              </a:stretch>
            </a:blipFill>
          </p:spPr>
        </p:sp>
      </p:grpSp>
      <p:grpSp>
        <p:nvGrpSpPr>
          <p:cNvPr name="Group 4" id="4"/>
          <p:cNvGrpSpPr/>
          <p:nvPr/>
        </p:nvGrpSpPr>
        <p:grpSpPr>
          <a:xfrm rot="0">
            <a:off x="666750" y="666750"/>
            <a:ext cx="8324850" cy="3747081"/>
            <a:chOff x="0" y="0"/>
            <a:chExt cx="11099800" cy="4996108"/>
          </a:xfrm>
        </p:grpSpPr>
        <p:sp>
          <p:nvSpPr>
            <p:cNvPr name="TextBox 5" id="5"/>
            <p:cNvSpPr txBox="true"/>
            <p:nvPr/>
          </p:nvSpPr>
          <p:spPr>
            <a:xfrm rot="0">
              <a:off x="0" y="66675"/>
              <a:ext cx="11099800" cy="3040596"/>
            </a:xfrm>
            <a:prstGeom prst="rect">
              <a:avLst/>
            </a:prstGeom>
          </p:spPr>
          <p:txBody>
            <a:bodyPr anchor="t" rtlCol="false" tIns="0" lIns="0" bIns="0" rIns="0">
              <a:spAutoFit/>
            </a:bodyPr>
            <a:lstStyle/>
            <a:p>
              <a:pPr algn="l" marL="0" indent="0" lvl="0">
                <a:lnSpc>
                  <a:spcPts val="8800"/>
                </a:lnSpc>
              </a:pPr>
              <a:r>
                <a:rPr lang="en-US" sz="8000">
                  <a:solidFill>
                    <a:srgbClr val="F1F1F1"/>
                  </a:solidFill>
                  <a:latin typeface="Georgia Pro Light"/>
                  <a:ea typeface="Georgia Pro Light"/>
                  <a:cs typeface="Georgia Pro Light"/>
                  <a:sym typeface="Georgia Pro Light"/>
                </a:rPr>
                <a:t>Résultats et Démonstration</a:t>
              </a:r>
            </a:p>
          </p:txBody>
        </p:sp>
        <p:sp>
          <p:nvSpPr>
            <p:cNvPr name="TextBox 6" id="6"/>
            <p:cNvSpPr txBox="true"/>
            <p:nvPr/>
          </p:nvSpPr>
          <p:spPr>
            <a:xfrm rot="0">
              <a:off x="0" y="3533703"/>
              <a:ext cx="11099800" cy="1462405"/>
            </a:xfrm>
            <a:prstGeom prst="rect">
              <a:avLst/>
            </a:prstGeom>
          </p:spPr>
          <p:txBody>
            <a:bodyPr anchor="t" rtlCol="false" tIns="0" lIns="0" bIns="0" rIns="0">
              <a:spAutoFit/>
            </a:bodyPr>
            <a:lstStyle/>
            <a:p>
              <a:pPr algn="l" marL="0" indent="0" lvl="0">
                <a:lnSpc>
                  <a:spcPts val="2940"/>
                </a:lnSpc>
              </a:pPr>
              <a:r>
                <a:rPr lang="en-US" sz="2100">
                  <a:solidFill>
                    <a:srgbClr val="F1F1F1"/>
                  </a:solidFill>
                  <a:latin typeface="DM Sans"/>
                  <a:ea typeface="DM Sans"/>
                  <a:cs typeface="DM Sans"/>
                  <a:sym typeface="DM Sans"/>
                </a:rPr>
                <a:t>Ce projet a été </a:t>
              </a:r>
              <a:r>
                <a:rPr lang="en-US" b="true" sz="2100">
                  <a:solidFill>
                    <a:srgbClr val="F1F1F1"/>
                  </a:solidFill>
                  <a:latin typeface="DM Sans Bold"/>
                  <a:ea typeface="DM Sans Bold"/>
                  <a:cs typeface="DM Sans Bold"/>
                  <a:sym typeface="DM Sans Bold"/>
                </a:rPr>
                <a:t>opérationnel et testé</a:t>
              </a:r>
              <a:r>
                <a:rPr lang="en-US" sz="2100">
                  <a:solidFill>
                    <a:srgbClr val="F1F1F1"/>
                  </a:solidFill>
                  <a:latin typeface="DM Sans"/>
                  <a:ea typeface="DM Sans"/>
                  <a:cs typeface="DM Sans"/>
                  <a:sym typeface="DM Sans"/>
                </a:rPr>
                <a:t> avec succès, validant les différentes versions et assurant la conversion entre COBOL et DB2 tout en maintenant une documentation technique complète.</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Présentation - Migration VSAM</dc:description>
  <dc:identifier>DAHCFaGxhbs</dc:identifier>
  <dcterms:modified xsi:type="dcterms:W3CDTF">2011-08-01T06:04:30Z</dcterms:modified>
  <cp:revision>1</cp:revision>
  <dc:title>Présentation - Migration VSAM</dc:title>
</cp:coreProperties>
</file>